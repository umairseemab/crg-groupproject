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66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question: can supplied CpG methylation features help classify melanoma stage? Do not present this as a validated clinical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locally: one sentence explaining the biological context of melanoma methylation markers, if required by your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the repository flow here if you create your own icons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stratification keeps low/high-stage proportions similar in development and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</a:rPr>
              <a:t>CpG markers for melanoma stage prediction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8368" y="20299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9636E"/>
                </a:solidFill>
              </a:rPr>
              <a:t>From exploratory data analysis to locked-model evaluation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863840" y="11430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73568" y="1252728"/>
            <a:ext cx="31638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320 patients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197 CpGs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324D"/>
                </a:solidFill>
              </a:rPr>
              <a:t>AGE + SEX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63840" y="25146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73568" y="2624328"/>
            <a:ext cx="31638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3A00"/>
                </a:solidFill>
              </a:rPr>
              <a:t>Goal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7A3A00"/>
                </a:solidFill>
              </a:rPr>
              <a:t>Low-stage vs high-stage classification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38862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EAF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73568" y="3995928"/>
            <a:ext cx="31638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532D"/>
                </a:solidFill>
              </a:rPr>
              <a:t>Output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532D"/>
                </a:solidFill>
              </a:rPr>
              <a:t>Interpretable 20-CpG panel + model evaluation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aim and classification task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What the analysis is trying to predict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80ED"/>
                </a:solidFill>
              </a:rPr>
              <a:t>Binary target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5528" y="1938528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Stage 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Low stage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324D"/>
                </a:solidFill>
              </a:rPr>
              <a:t>157 patients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94760" y="18288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F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04488" y="1938528"/>
            <a:ext cx="2523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A3A00"/>
                </a:solidFill>
              </a:rPr>
              <a:t>Stage 2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7A3A00"/>
                </a:solidFill>
              </a:rPr>
              <a:t>High stage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7A3A00"/>
                </a:solidFill>
              </a:rPr>
              <a:t>163 patients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38144" y="2331720"/>
            <a:ext cx="347472" cy="0"/>
          </a:xfrm>
          <a:prstGeom prst="line">
            <a:avLst/>
          </a:prstGeom>
          <a:noFill/>
          <a:ln w="20320">
            <a:solidFill>
              <a:srgbClr val="59636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146304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40880" y="1463040"/>
            <a:ext cx="73152" cy="11430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05472" y="1591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Main analysis question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05472" y="1901952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Can CpG methylation features and simple clinical variables distinguish high-stage from low-stage melanoma patients?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040880" y="288036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0" y="2880360"/>
            <a:ext cx="73152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05472" y="30083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Modeling goal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319272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Compare broad feature sets, then lock an interpretable compact CpG panel for a single final held-out evaluation.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040880" y="4297680"/>
            <a:ext cx="4389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4297680"/>
            <a:ext cx="73152" cy="11430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05472" y="44256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Output focus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205472" y="4736592"/>
            <a:ext cx="4114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Prediction performance, selected markers, coefficient direction, and uncertainty around the held-out test estimates.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What the input table contains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52728"/>
            <a:ext cx="195681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97480" y="1252728"/>
            <a:ext cx="13167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9080" y="1252728"/>
            <a:ext cx="22311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932432"/>
            <a:ext cx="5669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969008"/>
            <a:ext cx="195681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97480" y="1969008"/>
            <a:ext cx="13167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 rows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1969008"/>
            <a:ext cx="22311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samples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648712"/>
            <a:ext cx="56692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685288"/>
            <a:ext cx="195681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685288"/>
            <a:ext cx="13167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columns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0" y="2685288"/>
            <a:ext cx="22311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+ predictors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364992"/>
            <a:ext cx="56692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01568"/>
            <a:ext cx="195681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markers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3401568"/>
            <a:ext cx="13167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 cg... columns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9080" y="3401568"/>
            <a:ext cx="22311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molecular features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081272"/>
            <a:ext cx="56692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4117848"/>
            <a:ext cx="195681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variables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4117848"/>
            <a:ext cx="13167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and SEX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4117848"/>
            <a:ext cx="22311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comparators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797552"/>
            <a:ext cx="56692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4834128"/>
            <a:ext cx="195681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97480" y="4834128"/>
            <a:ext cx="13167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1/2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9080" y="4834128"/>
            <a:ext cx="2231136" cy="679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vs high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03720" y="1371600"/>
            <a:ext cx="4389120" cy="1325880"/>
          </a:xfrm>
          <a:prstGeom prst="roundRect">
            <a:avLst>
              <a:gd name="adj" fmla="val 5517"/>
            </a:avLst>
          </a:prstGeom>
          <a:solidFill>
            <a:srgbClr val="FFF1E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903720" y="1371600"/>
            <a:ext cx="73152" cy="13258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68312" y="1499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Important interpretation limits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068312" y="1810512"/>
            <a:ext cx="4114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AGE units, SEX code mapping, CpG platform, and CpG preprocessing are not documented in the supplied files. Add these locally if available.</a:t>
            </a:r>
            <a:endParaRPr lang="en-US" sz="1120" dirty="0"/>
          </a:p>
        </p:txBody>
      </p:sp>
      <p:sp>
        <p:nvSpPr>
          <p:cNvPr id="32" name="Shape 30"/>
          <p:cNvSpPr/>
          <p:nvPr/>
        </p:nvSpPr>
        <p:spPr>
          <a:xfrm>
            <a:off x="6903720" y="297180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03720" y="2971800"/>
            <a:ext cx="73152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68312" y="3099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Study type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68312" y="34107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This is stage classification. The supplied CSV does not include survival time or event-status columns.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903720" y="425196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EAF8F0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03720" y="4251960"/>
            <a:ext cx="73152" cy="10058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068312" y="4379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Positive class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068312" y="46908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High stage is recoded internally as the positive class for model evaluation.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Three notebooks with locked handoffs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651760" y="1965960"/>
            <a:ext cx="914400" cy="0"/>
          </a:xfrm>
          <a:prstGeom prst="line">
            <a:avLst/>
          </a:prstGeom>
          <a:noFill/>
          <a:ln w="25400">
            <a:solidFill>
              <a:srgbClr val="5963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0" y="1965960"/>
            <a:ext cx="914400" cy="0"/>
          </a:xfrm>
          <a:prstGeom prst="line">
            <a:avLst/>
          </a:prstGeom>
          <a:noFill/>
          <a:ln w="25400">
            <a:solidFill>
              <a:srgbClr val="5963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41080" y="1965960"/>
            <a:ext cx="914400" cy="0"/>
          </a:xfrm>
          <a:prstGeom prst="line">
            <a:avLst/>
          </a:prstGeom>
          <a:noFill/>
          <a:ln w="25400">
            <a:solidFill>
              <a:srgbClr val="5963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EA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344168"/>
            <a:ext cx="1792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Member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Data audit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Split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EDA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66160" y="139903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75888" y="1508760"/>
            <a:ext cx="188366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development.joblib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test_holdout.joblib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123444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EAF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93408" y="1344168"/>
            <a:ext cx="183794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4532D"/>
                </a:solidFill>
              </a:rPr>
              <a:t>Member 2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4532D"/>
                </a:solidFill>
              </a:rPr>
              <a:t>Nested CV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4532D"/>
                </a:solidFill>
              </a:rPr>
              <a:t>Panel selection</a:t>
            </a:r>
            <a:endParaRPr lang="en-US" sz="1420" dirty="0"/>
          </a:p>
          <a:p>
            <a:pPr marL="0" indent="0" algn="ctr">
              <a:buNone/>
            </a:pPr>
            <a:r>
              <a:rPr lang="en-US" sz="1420" b="1" dirty="0">
                <a:solidFill>
                  <a:srgbClr val="14532D"/>
                </a:solidFill>
              </a:rPr>
              <a:t>Model locking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9555480" y="1572768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65208" y="1682496"/>
            <a:ext cx="1746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locked_models.joblib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3657600"/>
            <a:ext cx="73152" cy="10972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8992" y="37856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joblib handoffs matter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78992" y="4096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They freeze the split, selected features, model parameters, and fitted models. Member 3 evaluates without refitting.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0" y="365760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3657600"/>
            <a:ext cx="73152" cy="10972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65392" y="37856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What to emphasize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65392" y="4096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The workflow separates exploration, model selection, and final testing. This reduces accidental reuse of the test set.</a:t>
            </a:r>
            <a:endParaRPr lang="en-US" sz="1120" dirty="0"/>
          </a:p>
        </p:txBody>
      </p:sp>
      <p:sp>
        <p:nvSpPr>
          <p:cNvPr id="25" name="Text 22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Exploration was done after reserving the test set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02920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missing values, constant columns, class balance, and feature ranges.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stratified 80:20 development-test split.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AGE, SEX, and CpG distributions within development data only.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CpG-CpG correlations to identify near-duplicate predictors.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PCA only as visualization, not as classifier input.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20840" y="15544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FF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30568" y="1664208"/>
            <a:ext cx="380390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3A00"/>
                </a:solidFill>
              </a:rPr>
              <a:t>EDA rule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7A3A00"/>
                </a:solidFill>
              </a:rPr>
              <a:t>Do not learn from the test set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46520" y="324612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46520" y="3246120"/>
            <a:ext cx="73152" cy="118872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1112" y="3374136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this matters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11112" y="368503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If feature exploration or selection uses the test set, the final evaluation can look better than it really is.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46520" y="470916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4709160"/>
            <a:ext cx="73152" cy="8686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11112" y="4837176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Where to put local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11112" y="5148072"/>
            <a:ext cx="4251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Add one screenshot/table from Member 1 showing data audit or class counts if your teacher wants raw evidence.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result: data audit and split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Clean input and preserved class balance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1252728"/>
            <a:ext cx="209397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252728"/>
            <a:ext cx="149961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804797"/>
            <a:ext cx="37033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841373"/>
            <a:ext cx="209397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841373"/>
            <a:ext cx="149961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393442"/>
            <a:ext cx="37033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30018"/>
            <a:ext cx="209397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430018"/>
            <a:ext cx="149961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982087"/>
            <a:ext cx="37033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018663"/>
            <a:ext cx="209397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3018663"/>
            <a:ext cx="149961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570732"/>
            <a:ext cx="37033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607308"/>
            <a:ext cx="209397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607308"/>
            <a:ext cx="149961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159377"/>
            <a:ext cx="37033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4195953"/>
            <a:ext cx="209397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columns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4195953"/>
            <a:ext cx="149961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748022"/>
            <a:ext cx="37033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4784598"/>
            <a:ext cx="209397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range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784598"/>
            <a:ext cx="149961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69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5336667"/>
            <a:ext cx="37033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5373243"/>
            <a:ext cx="209397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range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5373243"/>
            <a:ext cx="1499616" cy="55206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-1.39 to 1.38</a:t>
            </a:r>
            <a:endParaRPr lang="en-US" sz="1200" dirty="0"/>
          </a:p>
        </p:txBody>
      </p:sp>
      <p:pic>
        <p:nvPicPr>
          <p:cNvPr id="28" name="Image 0" descr="/mnt/data/CRG_presentation_assets/Member_1_Data_EDA_01_cell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760146"/>
            <a:ext cx="6766560" cy="381283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result: clinical and CpG distributions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Distribution checks before modeling</a:t>
            </a:r>
            <a:endParaRPr lang="en-US" sz="1050" dirty="0"/>
          </a:p>
        </p:txBody>
      </p:sp>
      <p:pic>
        <p:nvPicPr>
          <p:cNvPr id="5" name="Image 0" descr="/mnt/data/CRG_presentation_assets/Member_1_Data_EDA_02_cell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22657"/>
            <a:ext cx="6675120" cy="18870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325880"/>
            <a:ext cx="4206240" cy="3977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was inspected by stage to detect broad clinical differences.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 distribution was checked by stage, but code mapping needs confirmation.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distributions were checked to confirm transformed, comparable feature ranges.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major missing-data issue was found in the supplied table.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360920" y="53035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60920" y="5303520"/>
            <a:ext cx="73152" cy="68580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25512" y="5431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How to present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25512" y="574243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Say this EDA supports using the dataset for modeling, but it does not prove strong separation between stage groups.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result: CpG correlation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Checking redundancy among methylation features</a:t>
            </a:r>
            <a:endParaRPr lang="en-US" sz="1050" dirty="0"/>
          </a:p>
        </p:txBody>
      </p:sp>
      <p:pic>
        <p:nvPicPr>
          <p:cNvPr id="5" name="Image 0" descr="/mnt/data/CRG_presentation_assets/Member_1_Data_EDA_03_cell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00" y="1234440"/>
            <a:ext cx="5835799" cy="5074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95160" y="1435608"/>
            <a:ext cx="29626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correlated pair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012680" y="1435608"/>
            <a:ext cx="140817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95160" y="1810512"/>
            <a:ext cx="44805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95160" y="1847088"/>
            <a:ext cx="29626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cg25671438 / cg02210967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12680" y="1847088"/>
            <a:ext cx="140817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995160" y="2221992"/>
            <a:ext cx="44805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95160" y="2258568"/>
            <a:ext cx="296265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cg14649566 / cg11496569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12680" y="2258568"/>
            <a:ext cx="140817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95160" y="315468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95160" y="3154680"/>
            <a:ext cx="73152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159752" y="3282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Interpretation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59752" y="3593592"/>
            <a:ext cx="4206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Only two CpG pairs had |r| &gt; 0.9 in the development set, so widespread duplicate predictors were not evident.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6995160" y="44348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995160" y="4434840"/>
            <a:ext cx="7315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159752" y="45628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it matters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159752" y="4873752"/>
            <a:ext cx="4206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Strongly correlated features can make coefficients unstable. Penalized models and compact panels help manage this.</a:t>
            </a:r>
            <a:endParaRPr lang="en-US" sz="1120" dirty="0"/>
          </a:p>
        </p:txBody>
      </p:sp>
      <p:sp>
        <p:nvSpPr>
          <p:cNvPr id="22" name="Text 19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result: PCA visualization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Exploratory view of stage separation</a:t>
            </a:r>
            <a:endParaRPr lang="en-US" sz="1050" dirty="0"/>
          </a:p>
        </p:txBody>
      </p:sp>
      <p:pic>
        <p:nvPicPr>
          <p:cNvPr id="5" name="Image 0" descr="/mnt/data/CRG_presentation_assets/Member_1_Data_EDA_04_cell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71713"/>
            <a:ext cx="6537960" cy="23260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60920" y="1417320"/>
            <a:ext cx="4160520" cy="3429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summarizes high-dimensional CpG variation into principal components.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used only for visualization.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visual separation means stage prediction may be difficult.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classifiers still use original features, not PCA scores.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60920" y="4983480"/>
            <a:ext cx="4160520" cy="82296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60920" y="4983480"/>
            <a:ext cx="73152" cy="82296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25512" y="51114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Talk track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525512" y="542239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Use PCA as exploratory evidence: useful for seeing broad structure, but not enough to judge model performance.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candidates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Nine configurations across three modeling strategies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161288"/>
            <a:ext cx="2093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834640" y="1161288"/>
            <a:ext cx="45171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06640" y="1161288"/>
            <a:ext cx="40599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1673352"/>
            <a:ext cx="108356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709928"/>
            <a:ext cx="2093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baseline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1709928"/>
            <a:ext cx="45171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elastic-net, clinical forest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1709928"/>
            <a:ext cx="40599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AGE + SEX only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221992"/>
            <a:ext cx="108356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258568"/>
            <a:ext cx="2093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CpG models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834640" y="2258568"/>
            <a:ext cx="45171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elastic-net, CpG forest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06640" y="2258568"/>
            <a:ext cx="40599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all 197 CpGs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2770632"/>
            <a:ext cx="108356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2807208"/>
            <a:ext cx="2093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models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34640" y="2807208"/>
            <a:ext cx="45171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elastic-net, combined forest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06640" y="2807208"/>
            <a:ext cx="40599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+ SEX + CpGs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3319272"/>
            <a:ext cx="108356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" y="3355848"/>
            <a:ext cx="2093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panels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3355848"/>
            <a:ext cx="45171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5, Panel 10, Panel 20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06640" y="3355848"/>
            <a:ext cx="40599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CpG subsets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8680" y="434340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8680" y="4343400"/>
            <a:ext cx="73152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3272" y="44714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Key message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33272" y="47823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There are nine model configurations, but three main ML ideas: penalized logistic regression, random forest, and selected-CpG logistic panels.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6355080" y="434340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EAF8F0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355080" y="4343400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19672" y="447141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compare multiple feature sets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19672" y="47823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This shows whether CpGs add signal beyond AGE and SEX and whether a smaller marker panel performs similarly to larger models.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model families were selected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Practical choices for small data and many CpGs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481328"/>
            <a:ext cx="30266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Elastic-net logistic regression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Handles many predictors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7324D"/>
                </a:solidFill>
              </a:rPr>
              <a:t>Produces sparse coefficients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90288" y="1481328"/>
            <a:ext cx="30266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4532D"/>
                </a:solidFill>
              </a:rPr>
              <a:t>Random Forest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4532D"/>
                </a:solidFill>
              </a:rPr>
              <a:t>Captures nonlinear patterns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4532D"/>
                </a:solidFill>
              </a:rPr>
              <a:t>Useful comparator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75320" y="137160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85048" y="1481328"/>
            <a:ext cx="30266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7A3A00"/>
                </a:solidFill>
              </a:rPr>
              <a:t>CpG panels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7A3A00"/>
                </a:solidFill>
              </a:rPr>
              <a:t>Small marker sets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7A3A00"/>
                </a:solidFill>
              </a:rPr>
              <a:t>Easier to explain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05840" y="42062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4206240"/>
            <a:ext cx="73152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70432" y="43342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Reason for not using more complex models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70432" y="46451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With 320 patients and 197 CpGs, highly flexible models such as deep learning would have high overfitting risk and low interpretability.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00800" y="420624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4206240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65392" y="433425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Reporting phrase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65392" y="46451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Describe the analysis as a comparison of penalized linear models, tree-based ensembles, and parsimonious CpG-panel models.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strategy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Development selection first, final test once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514600" y="2103120"/>
            <a:ext cx="1097280" cy="0"/>
          </a:xfrm>
          <a:prstGeom prst="line">
            <a:avLst/>
          </a:prstGeom>
          <a:noFill/>
          <a:ln w="25400">
            <a:solidFill>
              <a:srgbClr val="5963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94960" y="2103120"/>
            <a:ext cx="1097280" cy="0"/>
          </a:xfrm>
          <a:prstGeom prst="line">
            <a:avLst/>
          </a:prstGeom>
          <a:noFill/>
          <a:ln w="25400">
            <a:solidFill>
              <a:srgbClr val="5963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0" y="2103120"/>
            <a:ext cx="1097280" cy="0"/>
          </a:xfrm>
          <a:prstGeom prst="line">
            <a:avLst/>
          </a:prstGeom>
          <a:noFill/>
          <a:ln w="25400">
            <a:solidFill>
              <a:srgbClr val="5963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4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5528" y="1618488"/>
            <a:ext cx="160934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Full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320 patients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11880" y="132588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EA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21608" y="1435608"/>
            <a:ext cx="160934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Development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256 patients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Nested CV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0" y="141732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EAF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01968" y="1527048"/>
            <a:ext cx="1517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532D"/>
                </a:solidFill>
              </a:rPr>
              <a:t>Lock models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4532D"/>
                </a:solidFill>
              </a:rPr>
              <a:t>Features + parameters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26880" y="13258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436608" y="1435608"/>
            <a:ext cx="17007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3A00"/>
                </a:solidFill>
              </a:rPr>
              <a:t>Held-out test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7A3A00"/>
                </a:solidFill>
              </a:rPr>
              <a:t>64 patients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7A3A00"/>
                </a:solidFill>
              </a:rPr>
              <a:t>Evaluate once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384048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3840480"/>
            <a:ext cx="73152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3272" y="39684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stratified split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33272" y="4279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Stage classes are balanced but not identical. Stratification preserves class proportions in development and test.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0" y="384048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3840480"/>
            <a:ext cx="73152" cy="9144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65392" y="39684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test once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65392" y="4279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Repeatedly checking the test set during model choice would overfit the evaluation itself.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cross-validation and leakage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How model selection was made fairer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EA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572768"/>
            <a:ext cx="270662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Outer CV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5 folds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</a:rPr>
              <a:t>Performance estimate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4630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EAF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81728" y="1572768"/>
            <a:ext cx="270662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532D"/>
                </a:solidFill>
              </a:rPr>
              <a:t>Inner CV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532D"/>
                </a:solidFill>
              </a:rPr>
              <a:t>3 folds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4532D"/>
                </a:solidFill>
              </a:rPr>
              <a:t>Tune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0" y="146304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30768" y="1572768"/>
            <a:ext cx="2706624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3A00"/>
                </a:solidFill>
              </a:rPr>
              <a:t>Pipelines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3A00"/>
                </a:solidFill>
              </a:rPr>
              <a:t>Scale + select features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7A3A00"/>
                </a:solidFill>
              </a:rPr>
              <a:t>inside CV only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49040" y="2176272"/>
            <a:ext cx="822960" cy="0"/>
          </a:xfrm>
          <a:prstGeom prst="line">
            <a:avLst/>
          </a:prstGeom>
          <a:noFill/>
          <a:ln w="25400">
            <a:solidFill>
              <a:srgbClr val="5963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0" y="2176272"/>
            <a:ext cx="822960" cy="0"/>
          </a:xfrm>
          <a:prstGeom prst="line">
            <a:avLst/>
          </a:prstGeom>
          <a:noFill/>
          <a:ln w="25400">
            <a:solidFill>
              <a:srgbClr val="59636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47548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folds select hyperparameters.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folds estimate the selected procedure.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for panel models is repeated within training folds.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is fitted only on training data within each fold.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388620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3886200"/>
            <a:ext cx="73152" cy="10972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65392" y="401421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nested CV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65392" y="43251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It reduces optimistic bias when several models and hyperparameters are compared on a small dataset.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Model-selection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Nested CV shows weak-to-moderate internal discrimination</a:t>
            </a:r>
            <a:endParaRPr lang="en-US" sz="1050" dirty="0"/>
          </a:p>
        </p:txBody>
      </p:sp>
      <p:pic>
        <p:nvPicPr>
          <p:cNvPr id="5" name="Image 0" descr="/mnt/data/CRG_presentation_assets/Member_2_Models_Markers_01_cell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17148"/>
            <a:ext cx="6720840" cy="33095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252728"/>
            <a:ext cx="22768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966960" y="1252728"/>
            <a:ext cx="1453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ROC-AUC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35240" y="1591056"/>
            <a:ext cx="38404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35240" y="1627632"/>
            <a:ext cx="22768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elastic-net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966960" y="1627632"/>
            <a:ext cx="1453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635240" y="1965960"/>
            <a:ext cx="38404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635240" y="2002536"/>
            <a:ext cx="22768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elastic-net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966960" y="2002536"/>
            <a:ext cx="1453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0.568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35240" y="2340864"/>
            <a:ext cx="38404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35240" y="2377440"/>
            <a:ext cx="22768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966960" y="2377440"/>
            <a:ext cx="1453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0.555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35240" y="2715768"/>
            <a:ext cx="384048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635240" y="2752344"/>
            <a:ext cx="22768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forest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966960" y="2752344"/>
            <a:ext cx="14538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35240" y="3657600"/>
            <a:ext cx="3840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635240" y="3657600"/>
            <a:ext cx="7315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799832" y="378561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Selection result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799832" y="4096512"/>
            <a:ext cx="3566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The overall development winner was combined elastic-net, but the compact Panel 20 was retained for interpretability.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7635240" y="48920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635240" y="4892040"/>
            <a:ext cx="73152" cy="86868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799832" y="50200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How to explain dots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799832" y="533095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Dots are outer-fold test scores. Diamonds show fold means. Wide spread means performance is unstable across folds.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CpG-panel selection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Reason for selecting the 20-CpG panel</a:t>
            </a:r>
            <a:endParaRPr lang="en-US" sz="1050" dirty="0"/>
          </a:p>
        </p:txBody>
      </p:sp>
      <p:pic>
        <p:nvPicPr>
          <p:cNvPr id="5" name="Image 0" descr="/mnt/data/CRG_presentation_assets/Member_2_Models_Markers_02_cell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38229"/>
            <a:ext cx="5852160" cy="3301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2280" y="1325880"/>
            <a:ext cx="4434840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sizes compared: 5, 10, and 20 CpGs.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 used ANOVA F score within training folds.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20 gave the strongest compact-panel mean ROC-AUC.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selection rule favored a small interpretable panel close to the best compact result.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12280" y="4800600"/>
            <a:ext cx="4434840" cy="914400"/>
          </a:xfrm>
          <a:prstGeom prst="roundRect">
            <a:avLst>
              <a:gd name="adj" fmla="val 8000"/>
            </a:avLst>
          </a:prstGeom>
          <a:solidFill>
            <a:srgbClr val="FFF1E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812280" y="4800600"/>
            <a:ext cx="73152" cy="9144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976872" y="492861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Important wording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76872" y="52395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This is a practical marker-selection rule. It is not proof that 20 CpGs are biologically sufficient or externally validated.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stability and coefficients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What the selected CpGs show</a:t>
            </a:r>
            <a:endParaRPr lang="en-US" sz="1050" dirty="0"/>
          </a:p>
        </p:txBody>
      </p:sp>
      <p:pic>
        <p:nvPicPr>
          <p:cNvPr id="5" name="Image 0" descr="/mnt/data/CRG_presentation_assets/Member_2_Models_Markers_03_cell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02126"/>
            <a:ext cx="5852160" cy="2665228"/>
          </a:xfrm>
          <a:prstGeom prst="rect">
            <a:avLst/>
          </a:prstGeom>
        </p:spPr>
      </p:pic>
      <p:pic>
        <p:nvPicPr>
          <p:cNvPr id="6" name="Image 1" descr="/mnt/data/CRG_presentation_assets/Member_2_Models_Markers_04_cell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433697"/>
            <a:ext cx="5166360" cy="29847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46520" y="516636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6446520" y="5166360"/>
            <a:ext cx="73152" cy="868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611112" y="529437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Interpretation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611112" y="5605272"/>
            <a:ext cx="4892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Selection frequency shows how often a CpG was chosen across outer-fold training sets. Coefficient sign shows direction in the fitted panel.</a:t>
            </a:r>
            <a:endParaRPr lang="en-US" sz="1120" dirty="0"/>
          </a:p>
        </p:txBody>
      </p:sp>
      <p:sp>
        <p:nvSpPr>
          <p:cNvPr id="11" name="Text 7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evaluation 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Locked models tested once on unseen patients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5120640" cy="3703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 loads development, test, and locked-model checkpoint files.</a:t>
            </a:r>
            <a:endParaRPr lang="en-US" sz="1520" dirty="0"/>
          </a:p>
          <a:p>
            <a:r>
              <a:rPr lang="en-US" sz="15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refitting, no new feature selection, no threshold tuning on the test set.</a:t>
            </a:r>
            <a:endParaRPr lang="en-US" sz="1520" dirty="0"/>
          </a:p>
          <a:p>
            <a:r>
              <a:rPr lang="en-US" sz="15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probability threshold: 0.5 for class labels.</a:t>
            </a:r>
            <a:endParaRPr lang="en-US" sz="1520" dirty="0"/>
          </a:p>
          <a:p>
            <a:r>
              <a:rPr lang="en-US" sz="15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metric: ROC-AUC.</a:t>
            </a:r>
            <a:endParaRPr lang="en-US" sz="1520" dirty="0"/>
          </a:p>
          <a:p>
            <a:r>
              <a:rPr lang="en-US" sz="15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metrics: average precision, balanced accuracy, sensitivity, specificity, Brier score.</a:t>
            </a:r>
            <a:endParaRPr lang="en-US" sz="1520" dirty="0"/>
          </a:p>
        </p:txBody>
      </p:sp>
      <p:sp>
        <p:nvSpPr>
          <p:cNvPr id="6" name="Shape 4"/>
          <p:cNvSpPr/>
          <p:nvPr/>
        </p:nvSpPr>
        <p:spPr>
          <a:xfrm>
            <a:off x="6583680" y="123444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0" y="1234440"/>
            <a:ext cx="73152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48272" y="13624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ROC-AUC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748272" y="167335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ROC-AUC compares ranking performance across thresholds, so it is useful before choosing a clinical decision threshold.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583680" y="25603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0" y="2560320"/>
            <a:ext cx="73152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48272" y="26883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balanced accuracy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48272" y="299923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Balanced accuracy gives equal weight to low-stage and high-stage classes.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583680" y="379476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3794760"/>
            <a:ext cx="73152" cy="91440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48272" y="39227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Brier score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48272" y="42336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Brier score checks probability error, not only class ranking.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583680" y="502920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83680" y="5029200"/>
            <a:ext cx="73152" cy="82296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48272" y="51572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Why bootstrap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48272" y="5468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The test set has 64 patients, so confidence intervals communicate sampling uncertainty.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evaluation plots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ROC, precision-recall, and confusion matrix</a:t>
            </a:r>
            <a:endParaRPr lang="en-US" sz="1050" dirty="0"/>
          </a:p>
        </p:txBody>
      </p:sp>
      <p:pic>
        <p:nvPicPr>
          <p:cNvPr id="5" name="Image 0" descr="/mnt/data/CRG_presentation_assets/Member_3_Evaluation_Reporting_01_cell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73468"/>
            <a:ext cx="6766560" cy="1905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207008"/>
            <a:ext cx="2002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model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1200" y="1207008"/>
            <a:ext cx="905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561320" y="1207008"/>
            <a:ext cx="9509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acc.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543800" y="1591056"/>
            <a:ext cx="40233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43800" y="1627632"/>
            <a:ext cx="2002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20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0" y="1627632"/>
            <a:ext cx="905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0.609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561320" y="1627632"/>
            <a:ext cx="9509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0.511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2011680"/>
            <a:ext cx="4023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43800" y="2048256"/>
            <a:ext cx="2002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elastic-net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601200" y="2048256"/>
            <a:ext cx="905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0.555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0561320" y="2048256"/>
            <a:ext cx="9509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0.575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543800" y="2432304"/>
            <a:ext cx="4023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543800" y="2468880"/>
            <a:ext cx="2002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forest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601200" y="2468880"/>
            <a:ext cx="905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0.451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561320" y="2468880"/>
            <a:ext cx="9509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0.531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543800" y="2852928"/>
            <a:ext cx="402336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43800" y="2889504"/>
            <a:ext cx="20025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CpG elastic-net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601200" y="2889504"/>
            <a:ext cx="9052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0.522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0561320" y="2889504"/>
            <a:ext cx="9509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0.481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543800" y="37490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543800" y="3749040"/>
            <a:ext cx="73152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708392" y="3877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Main result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708392" y="4187952"/>
            <a:ext cx="3749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Panel 20 had the highest held-out ROC-AUC among locked models, but classification at threshold 0.5 remained weak.</a:t>
            </a:r>
            <a:endParaRPr lang="en-US" sz="1120" dirty="0"/>
          </a:p>
        </p:txBody>
      </p:sp>
      <p:sp>
        <p:nvSpPr>
          <p:cNvPr id="29" name="Shape 26"/>
          <p:cNvSpPr/>
          <p:nvPr/>
        </p:nvSpPr>
        <p:spPr>
          <a:xfrm>
            <a:off x="7543800" y="4983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543800" y="4983480"/>
            <a:ext cx="73152" cy="777240"/>
          </a:xfrm>
          <a:prstGeom prst="rect">
            <a:avLst/>
          </a:prstGeom>
          <a:solidFill>
            <a:srgbClr val="59636E"/>
          </a:solidFill>
          <a:ln w="12700">
            <a:solidFill>
              <a:srgbClr val="596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708392" y="51114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How to present confusion matrix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708392" y="5422392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Mention the threshold is fixed at 0.5. Do not optimize it after seeing the test labels.</a:t>
            </a:r>
            <a:endParaRPr lang="en-US" sz="1120" dirty="0"/>
          </a:p>
        </p:txBody>
      </p:sp>
      <p:sp>
        <p:nvSpPr>
          <p:cNvPr id="33" name="Text 3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and final interpretation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Final estimates need cautious wording</a:t>
            </a:r>
            <a:endParaRPr lang="en-US" sz="1050" dirty="0"/>
          </a:p>
        </p:txBody>
      </p:sp>
      <p:pic>
        <p:nvPicPr>
          <p:cNvPr id="5" name="Image 0" descr="/mnt/data/CRG_presentation_assets/Member_3_Evaluation_Reporting_02_cell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73187"/>
            <a:ext cx="6172200" cy="34145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86600" y="1252728"/>
            <a:ext cx="25054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for Panel 20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646920" y="1252728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86600" y="1636776"/>
            <a:ext cx="43891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086600" y="1673352"/>
            <a:ext cx="25054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ROC-AUC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46920" y="1673352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86600" y="2057400"/>
            <a:ext cx="43891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086600" y="2093976"/>
            <a:ext cx="25054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bootstrap interval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646920" y="2093976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0.467 to 0.743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086600" y="2478024"/>
            <a:ext cx="43891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086600" y="2514600"/>
            <a:ext cx="25054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patients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46920" y="2514600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086600" y="2898648"/>
            <a:ext cx="438912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086600" y="2935224"/>
            <a:ext cx="250545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46920" y="2935224"/>
            <a:ext cx="1773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signal only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086600" y="374904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086600" y="3749040"/>
            <a:ext cx="73152" cy="86868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51192" y="3877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Reason for caution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251192" y="4187952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The interval includes 0.5, so the held-out result does not establish reliable stage prediction.</a:t>
            </a:r>
            <a:endParaRPr lang="en-US" sz="1120" dirty="0"/>
          </a:p>
        </p:txBody>
      </p:sp>
      <p:sp>
        <p:nvSpPr>
          <p:cNvPr id="24" name="Shape 21"/>
          <p:cNvSpPr/>
          <p:nvPr/>
        </p:nvSpPr>
        <p:spPr>
          <a:xfrm>
            <a:off x="7086600" y="4892040"/>
            <a:ext cx="4389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086600" y="4892040"/>
            <a:ext cx="73152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51192" y="50200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What is still needed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251192" y="5330952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Independent external validation, verified CpG annotation, clinical variable code mapping, and platform/preprocessing details.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add locally before presenting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841248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0525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636E"/>
                </a:solidFill>
              </a:rPr>
              <a:t>Items that need your local confirmation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161288"/>
            <a:ext cx="49743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locally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06440" y="1161288"/>
            <a:ext cx="5522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add 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1581912"/>
            <a:ext cx="106070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18488"/>
            <a:ext cx="49743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Assay platform and CpG annotation 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06440" y="1618488"/>
            <a:ext cx="5522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3, 16, 19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039112"/>
            <a:ext cx="10607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075688"/>
            <a:ext cx="49743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 code mapping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2075688"/>
            <a:ext cx="5522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3 and 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496312"/>
            <a:ext cx="10607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532888"/>
            <a:ext cx="49743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units and source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2532888"/>
            <a:ext cx="5522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3 and 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953512"/>
            <a:ext cx="10607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2990088"/>
            <a:ext cx="49743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dataset/preprocessing notes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2990088"/>
            <a:ext cx="5522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2 or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410712"/>
            <a:ext cx="10607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447288"/>
            <a:ext cx="49743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Course-specific requirement or rubric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06440" y="3447288"/>
            <a:ext cx="5522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slide or appendix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867912"/>
            <a:ext cx="10607040" cy="0"/>
          </a:xfrm>
          <a:prstGeom prst="line">
            <a:avLst/>
          </a:prstGeom>
          <a:noFill/>
          <a:ln w="635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904488"/>
            <a:ext cx="49743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interpretation of top CpGs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06440" y="3904488"/>
            <a:ext cx="55229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Slide 16 or as appendix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51560" y="484632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51560" y="4846320"/>
            <a:ext cx="73152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16152" y="4974336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Recommended closing statement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16152" y="52852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9636E"/>
                </a:solidFill>
              </a:rPr>
              <a:t>The workflow identifies an exploratory 20-CpG marker panel and evaluates it with leakage-controlled internal validation. External validation is required before biological or clinical claims.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A6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e8f432a-23bf-41d6-ab25-8bcd209e80dc}" enabled="1" method="Privileged" siteId="{87879f2e-7304-4bf2-baf2-63e7f83f3c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1710</Words>
  <Application>Microsoft Office PowerPoint</Application>
  <PresentationFormat>Widescreen</PresentationFormat>
  <Paragraphs>337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CpG Markers for Melanoma Stage</dc:title>
  <dc:subject>CpG marker analysis presentation</dc:subject>
  <dc:creator>OpenAI</dc:creator>
  <cp:lastModifiedBy>Umair Seemab</cp:lastModifiedBy>
  <cp:revision>2</cp:revision>
  <dcterms:created xsi:type="dcterms:W3CDTF">2026-09-17T14:59:17Z</dcterms:created>
  <dcterms:modified xsi:type="dcterms:W3CDTF">2026-09-17T15:27:09Z</dcterms:modified>
</cp:coreProperties>
</file>